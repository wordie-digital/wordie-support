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520000">
            <a:off x="7772400" y="-457200"/>
            <a:ext cx="5486400" cy="822960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9326880" y="-457200"/>
            <a:ext cx="2743200" cy="8229600"/>
          </a:xfrm>
          <a:prstGeom prst="rect">
            <a:avLst/>
          </a:prstGeom>
          <a:solidFill>
            <a:srgbClr val="0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9DDDD"/>
                </a:solidFill>
                <a:latin typeface="Source Sans Pro"/>
              </a:rPr>
              <a:t>Support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ontserrat"/>
              </a:rPr>
              <a:t>How our AI-assisted
support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Wordie Digital  ·  wordie.com.au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Three systems, working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474720" cy="420624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ontserrat"/>
              </a:rPr>
              <a:t>HubSpot Auto-Triage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Pro"/>
              </a:rPr>
              <a:t>Every hour, Claude classifies new tickets,
adds structured notes, and sets priority
and category fields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474720" cy="420624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ontserrat"/>
              </a:rPr>
              <a:t>Helpdesk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Pro"/>
              </a:rPr>
              <a:t>Canonical playbooks for recurring issues —
diagnosis steps, fix instructions, and
copy-paste agent scripts.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554480"/>
            <a:ext cx="3474720" cy="420624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ontserrat"/>
              </a:rPr>
              <a:t>GitHub Deploy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Pro"/>
              </a:rPr>
              <a:t>All code changes go through GitHub Actions
before reaching WP Engine — never a direct push.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6E6E"/>
                </a:solidFill>
                <a:latin typeface="Source Sans Pro"/>
              </a:rPr>
              <a:t>Each system feeds the next. Triage notes reference playbooks. Playbooks are version-controlled in GitHub.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Auto-triage — how it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691640" cy="438912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Every hour
at 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1546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Claude Code wakes up and reads
the task definition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246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508760"/>
            <a:ext cx="1691640" cy="438912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Fetches
new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1546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Searches HubSpot for open tickets
created in the last 2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246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508760"/>
            <a:ext cx="1691640" cy="438912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Skips
already triaged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546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Any ticket with an AUTO-TRIAGE
note is ignored — no duplicates.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246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508760"/>
            <a:ext cx="1691640" cy="438912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Classifies
P1 – 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1546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Applies priority logic and selects
a routing destination.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246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508760"/>
            <a:ext cx="1691640" cy="438912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Writes note
to HubSpot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1546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Posts a structured triage note
directly onto the ticket.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246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1508760"/>
            <a:ext cx="1691640" cy="438912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Updates
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31546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Sets Priority + Category fields
if currently blank.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6E6E"/>
                </a:solidFill>
                <a:latin typeface="Source Sans Pro"/>
              </a:rPr>
              <a:t>Skips: M&amp;S retainer tickets · Pure project delivery · Inbound call records · Government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Auto-triage — what the note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6692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669280" cy="41148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9DDDD"/>
                </a:solidFill>
                <a:latin typeface="Source Sans Pro"/>
              </a:rPr>
              <a:t>HubSpot ticket note — added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29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542"/>
                </a:solidFill>
                <a:latin typeface="Source Sans Pro"/>
              </a:rPr>
              <a:t>🔍 AUTO-TRIAGE  |  2026-05-19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5308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62028"/>
                </a:solidFill>
                <a:latin typeface="Source Sans Pr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609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INTENT:  Client unable to upload product images in WordPress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511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PRIORITY:  P3  |  URGENCY: 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4137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ROUTED TO:  Developer  |  ESCALATION: 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3156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62028"/>
                </a:solidFill>
                <a:latin typeface="Source Sans Pr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3946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SUMMARY:  The uploads directory has lost write permissions,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296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preventing any media uploads. No revenue impact but blocks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198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content publishing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1005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62028"/>
                </a:solidFill>
                <a:latin typeface="Source Sans Pr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1795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RECOMMENDED ACTION:  SSH/SFTP to correct permissions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0814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wp-content/uploads. See playbook: media-upload-error.md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983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62028"/>
                </a:solidFill>
                <a:latin typeface="Source Sans Pr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06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6E6E"/>
                </a:solidFill>
                <a:latin typeface="Source Sans Pro"/>
              </a:rPr>
              <a:t>REUSABILITY:  8/10  |  KNOWN PATTERN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9643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TAGS:  wordpress, uploads, permissions, 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554480"/>
            <a:ext cx="73152" cy="713232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5544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34D"/>
                </a:solidFill>
                <a:latin typeface="Montserrat"/>
              </a:rPr>
              <a:t>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Plain-English description of what the client needs.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560320"/>
            <a:ext cx="73152" cy="713232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5603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542"/>
                </a:solidFill>
                <a:latin typeface="Montserrat"/>
              </a:rPr>
              <a:t>PRIORITY +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8346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P1-P4 severity and which team handles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566160"/>
            <a:ext cx="73152" cy="713232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566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6E6E"/>
                </a:solidFill>
                <a:latin typeface="Montserrat"/>
              </a:rPr>
              <a:t>RECOMMENDED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40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The exact next step — no guesswork for your team.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572000"/>
            <a:ext cx="73152" cy="713232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572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3542"/>
                </a:solidFill>
                <a:latin typeface="Montserrat"/>
              </a:rPr>
              <a:t>KNOWN PATTERN 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846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Matched to a helpdesk playbook. Follow that doc for the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Priority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2286000" cy="100584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733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P1  URGENT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SLA  &lt; 1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76479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2028"/>
                </a:solidFill>
                <a:latin typeface="Source Sans Pro"/>
              </a:rPr>
              <a:t>Site down · Checkout broken · Security breach · Emails completely stopped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91672" cy="18288"/>
          </a:xfrm>
          <a:prstGeom prst="rect">
            <a:avLst/>
          </a:prstGeom>
          <a:solidFill>
            <a:srgbClr val="B9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2286000" cy="100584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P2 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SLA  &lt; 4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5351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2028"/>
                </a:solidFill>
                <a:latin typeface="Source Sans Pro"/>
              </a:rPr>
              <a:t>Major feature broken · Login blocked · Analytics gone · ERP sync down · Backups failing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11091672" cy="18288"/>
          </a:xfrm>
          <a:prstGeom prst="rect">
            <a:avLst/>
          </a:prstGeom>
          <a:solidFill>
            <a:srgbClr val="B9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2286000" cy="100584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P3  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80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SLA  &lt; 24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1422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2028"/>
                </a:solidFill>
                <a:latin typeface="Source Sans Pro"/>
              </a:rPr>
              <a:t>Partial issue with a workaround · Styling bugs · Upload permissions · 404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11091672" cy="18288"/>
          </a:xfrm>
          <a:prstGeom prst="rect">
            <a:avLst/>
          </a:prstGeom>
          <a:solidFill>
            <a:srgbClr val="B9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2286000" cy="1005840"/>
          </a:xfrm>
          <a:prstGeom prst="rect">
            <a:avLst/>
          </a:prstGeom>
          <a:solidFill>
            <a:srgbClr val="B9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239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3542"/>
                </a:solidFill>
                <a:latin typeface="Montserrat"/>
              </a:rPr>
              <a:t>P4 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69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3542"/>
                </a:solidFill>
                <a:latin typeface="Source Sans Pro"/>
              </a:rPr>
              <a:t>SLA  &lt; 72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3309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2028"/>
                </a:solidFill>
                <a:latin typeface="Source Sans Pro"/>
              </a:rPr>
              <a:t>Cosmetic · Content update · Meta tags · Redirects · General question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126480"/>
            <a:ext cx="11091672" cy="18288"/>
          </a:xfrm>
          <a:prstGeom prst="rect">
            <a:avLst/>
          </a:prstGeom>
          <a:solidFill>
            <a:srgbClr val="B9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Routing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00" cy="224028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ontserrat"/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Pro"/>
              </a:rPr>
              <a:t>Code bugs, JS errors, integrations, analytics setup,
CSS requiring code changes, performance issues.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508760"/>
            <a:ext cx="5486400" cy="224028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ontserrat"/>
              </a:rPr>
              <a:t>Support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Pro"/>
              </a:rPr>
              <a:t>Content updates, IP whitelists, meta tags, redirects,
access requests, test accounts — you can close these.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77639"/>
            <a:ext cx="5486400" cy="224028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ontserrat"/>
              </a:rPr>
              <a:t>Escalation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Pro"/>
              </a:rPr>
              <a:t>Security issues, data loss, active breaches,
payment system down. Flag to Stewart immediately.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977639"/>
            <a:ext cx="5486400" cy="2240280"/>
          </a:xfrm>
          <a:prstGeom prst="rect">
            <a:avLst/>
          </a:prstGeom>
          <a:solidFill>
            <a:srgbClr val="B9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3542"/>
                </a:solidFill>
                <a:latin typeface="Montserrat"/>
              </a:rPr>
              <a:t>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00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3542"/>
                </a:solidFill>
                <a:latin typeface="Source Sans Pro"/>
              </a:rPr>
              <a:t>Spam, misdirected email, government notifications, FAQs.
Close or send the self-serve template.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Helpdesk knowledge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16E6E"/>
                </a:solidFill>
                <a:latin typeface="Source Sans Pro"/>
              </a:rPr>
              <a:t>Each playbook covers: symptom · root cause · diagnosis · fix · prevention · agent script · chatbot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73152" cy="658368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568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542"/>
                </a:solidFill>
                <a:latin typeface="Montserrat"/>
              </a:rPr>
              <a:t>WooCommerce order flow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WP-Cron cleared → stuck orders / missing emails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057400"/>
            <a:ext cx="914400" cy="347472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6E6E"/>
                </a:solidFill>
                <a:latin typeface="Source Sans Pro"/>
              </a:rPr>
              <a:t>woocommerce/order-flow-failure.md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16352"/>
            <a:ext cx="73152" cy="658368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542"/>
                </a:solidFill>
                <a:latin typeface="Montserrat"/>
              </a:rPr>
              <a:t>WordPress media upload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Upload directory not writable — permissions 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53512"/>
            <a:ext cx="914400" cy="347472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8/10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6E6E"/>
                </a:solidFill>
                <a:latin typeface="Source Sans Pro"/>
              </a:rPr>
              <a:t>wordpress/media-upload-error.md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12464"/>
            <a:ext cx="73152" cy="658368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49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542"/>
                </a:solidFill>
                <a:latin typeface="Montserrat"/>
              </a:rPr>
              <a:t>Member login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96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Wordfence IP block — 3 client occurrences in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849624"/>
            <a:ext cx="914400" cy="347472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49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8/10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913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6E6E"/>
                </a:solidFill>
                <a:latin typeface="Source Sans Pro"/>
              </a:rPr>
              <a:t>wordpress/member-login-blocked.md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08576"/>
            <a:ext cx="73152" cy="658368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45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542"/>
                </a:solidFill>
                <a:latin typeface="Montserrat"/>
              </a:rPr>
              <a:t>GTM container replaced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926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GTM ID swapped on deploy — GTM-WL7TVVS is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745736"/>
            <a:ext cx="914400" cy="347472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457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10/10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8097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6E6E"/>
                </a:solidFill>
                <a:latin typeface="Source Sans Pro"/>
              </a:rPr>
              <a:t>analytics/gtm-container-replaced.md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504688"/>
            <a:ext cx="73152" cy="658368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412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3542"/>
                </a:solidFill>
                <a:latin typeface="Montserrat"/>
              </a:rPr>
              <a:t>Debug code on 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88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2028"/>
                </a:solidFill>
                <a:latin typeface="Source Sans Pro"/>
              </a:rPr>
              <a:t>WP_DEBUG left on — treat as P1 immediately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641848"/>
            <a:ext cx="914400" cy="347472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6418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9/10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705855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6E6E"/>
                </a:solidFill>
                <a:latin typeface="Source Sans Pro"/>
              </a:rPr>
              <a:t>wordpress/debug-code-on-production.md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4747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is a Claude Code scheduled task?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27432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9DDDD"/>
                </a:solidFill>
                <a:latin typeface="Source Sans Pro"/>
              </a:rPr>
              <a:t>Claude Code is Anthropic's AI coding assistant. Its Scheduled Tasks feature lets you define
an AI agent in plain language and run it on a timer — like a cron job, but using natural
language instructions instead of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54864" cy="86868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Task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986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SKILL.md at
~/.claude/scheduled-tasks/hubspot-auto-triage/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76472"/>
            <a:ext cx="54864" cy="86868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76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0 * * * *
— every hour on the 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38344"/>
            <a:ext cx="54864" cy="86868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383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223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HubSpot MCP (secure API bridge)
— no passwords stored in the 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514600"/>
            <a:ext cx="54864" cy="86868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Where to find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986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Claude Code desktop app
→ clock icon in sidebar → Scheduled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76472"/>
            <a:ext cx="54864" cy="86868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776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First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Click Run now once to pre-approve
HubSpot tool permissions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038344"/>
            <a:ext cx="54864" cy="86868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383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If a run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223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DDDD"/>
                </a:solidFill>
                <a:latin typeface="Source Sans Pro"/>
              </a:rPr>
              <a:t>Check run history in the app.
Usually a timeout — just retry manually.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Deploy workflow — code to WP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1691640" cy="40233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8600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Local
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246120"/>
            <a:ext cx="14813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Write and test code
on your machine.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600200"/>
            <a:ext cx="1691640" cy="40233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28600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git push
to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3246120"/>
            <a:ext cx="14813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Push your branch.
Never push to WP Engine directly.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600200"/>
            <a:ext cx="1691640" cy="402336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28600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Open Pull
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246120"/>
            <a:ext cx="14813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Request a review
before anything goes live.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600200"/>
            <a:ext cx="1691640" cy="402336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28600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Review
+ 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246120"/>
            <a:ext cx="14813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Approve and merge
into 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600200"/>
            <a:ext cx="1691640" cy="402336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228600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GitHub Actions
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3246120"/>
            <a:ext cx="14813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Automated checks run
before deploying.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6E6E"/>
                </a:solidFill>
                <a:latin typeface="Montserrat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1600200"/>
            <a:ext cx="1691640" cy="4023360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0696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7" y="228600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WP Engine
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2407" y="3246120"/>
            <a:ext cx="14813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ource Sans Pro"/>
              </a:rPr>
              <a:t>Staging or production
updated automatically.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704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6E6E"/>
                </a:solidFill>
                <a:latin typeface="Source Sans Pro"/>
              </a:rPr>
              <a:t>Rule: all changes go through GitHub → GitHub Actions. This prevents regressions like a GTM container ID being overwritten on a direct push.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634D"/>
                </a:solidFill>
                <a:latin typeface="Montserra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Quick reference for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DDDD"/>
                </a:solidFill>
                <a:latin typeface="Source Sans Pro"/>
              </a:rPr>
              <a:t>Wordie Digital  ·  support@wordie.com.au  ·  wordie.com.au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91440" cy="749808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542"/>
                </a:solidFill>
                <a:latin typeface="Montserrat"/>
              </a:rPr>
              <a:t>Client can't log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2028"/>
                </a:solidFill>
                <a:latin typeface="Source Sans Pro"/>
              </a:rPr>
              <a:t>Check triage note. Usually Wordfence IP block → member-login-blocked.md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14016"/>
            <a:ext cx="91440" cy="749808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542"/>
                </a:solidFill>
                <a:latin typeface="Montserrat"/>
              </a:rPr>
              <a:t>Orders stuck / emails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2028"/>
                </a:solidFill>
                <a:latin typeface="Source Sans Pro"/>
              </a:rPr>
              <a:t>P1 if checkout broken. WP-Cron was cleared → order-flow-failure.md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46704"/>
            <a:ext cx="91440" cy="749808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015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542"/>
                </a:solidFill>
                <a:latin typeface="Montserrat"/>
              </a:rPr>
              <a:t>Can't upload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2028"/>
                </a:solidFill>
                <a:latin typeface="Source Sans Pro"/>
              </a:rPr>
              <a:t>Directory permissions fix — 15 min job → media-upload-error.md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79392"/>
            <a:ext cx="91440" cy="749808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3425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542"/>
                </a:solidFill>
                <a:latin typeface="Montserrat"/>
              </a:rPr>
              <a:t>Analytics dropped to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001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2028"/>
                </a:solidFill>
                <a:latin typeface="Source Sans Pro"/>
              </a:rPr>
              <a:t>Check GTM container ID in page source. Correct ID: GTM-WL7TVVS → gtm-container-replaced.md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12080"/>
            <a:ext cx="91440" cy="749808"/>
          </a:xfrm>
          <a:prstGeom prst="rect">
            <a:avLst/>
          </a:prstGeom>
          <a:solidFill>
            <a:srgbClr val="F5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669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3542"/>
                </a:solidFill>
                <a:latin typeface="Montserrat"/>
              </a:rPr>
              <a:t>PHP errors on live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3270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2028"/>
                </a:solidFill>
                <a:latin typeface="Source Sans Pro"/>
              </a:rPr>
              <a:t>P1 immediately. Debug mode left on → debug-code-on-production.md. Escalate to developer 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520000">
            <a:off x="7498079" y="-457200"/>
            <a:ext cx="5486400" cy="8229600"/>
          </a:xfrm>
          <a:prstGeom prst="rect">
            <a:avLst/>
          </a:prstGeom>
          <a:solidFill>
            <a:srgbClr val="11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9235440" y="-457200"/>
            <a:ext cx="2743200" cy="8229600"/>
          </a:xfrm>
          <a:prstGeom prst="rect">
            <a:avLst/>
          </a:prstGeom>
          <a:solidFill>
            <a:srgbClr val="0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ontserrat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9DDDD"/>
                </a:solidFill>
                <a:latin typeface="Source Sans Pro"/>
              </a:rPr>
              <a:t>Ping Stewart on Slack, or reply to a HubSpot ticket thread.
The auto-triage system is maintained by Stewart — if a classification looks wrong, let him know.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634D"/>
                </a:solidFill>
                <a:latin typeface="Montserrat"/>
              </a:rPr>
              <a:t>support@wordie.com.au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DDDD"/>
                </a:solidFill>
                <a:latin typeface="Source Sans Pro"/>
              </a:rPr>
              <a:t>wordie.com.au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